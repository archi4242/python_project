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0.xml" ContentType="application/vnd.openxmlformats-officedocument.presentationml.notesSlide+xml"/>
  <Override PartName="/ppt/charts/chart12.xml" ContentType="application/vnd.openxmlformats-officedocument.drawingml.chart+xml"/>
  <Override PartName="/ppt/notesSlides/notesSlide11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12.xml" ContentType="application/vnd.openxmlformats-officedocument.presentationml.notesSlide+xml"/>
  <Override PartName="/ppt/charts/chart16.xml" ContentType="application/vnd.openxmlformats-officedocument.drawingml.chart+xml"/>
  <Override PartName="/ppt/notesSlides/notesSlide13.xml" ContentType="application/vnd.openxmlformats-officedocument.presentationml.notesSlide+xml"/>
  <Override PartName="/ppt/charts/chart17.xml" ContentType="application/vnd.openxmlformats-officedocument.drawingml.chart+xml"/>
  <Override PartName="/ppt/notesSlides/notesSlide14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15.xml" ContentType="application/vnd.openxmlformats-officedocument.presentationml.notesSlide+xml"/>
  <Override PartName="/ppt/charts/chart20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US" sz="1300" b="0" i="0" u="none" strike="noStrike" dirty="0">
                <a:solidFill>
                  <a:schemeClr val="tx1"/>
                </a:solidFill>
                <a:latin typeface="Arial"/>
              </a:rPr>
              <a:t>Monthly appointment volume by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ln w="31750" cap="flat">
              <a:solidFill>
                <a:srgbClr val="8A8C8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8A8C8F"/>
              </a:solidFill>
              <a:ln w="9525" cap="flat">
                <a:solidFill>
                  <a:srgbClr val="8A8C8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2320</c:v>
                </c:pt>
                <c:pt idx="1">
                  <c:v>2260</c:v>
                </c:pt>
                <c:pt idx="2">
                  <c:v>2200</c:v>
                </c:pt>
                <c:pt idx="3">
                  <c:v>2100</c:v>
                </c:pt>
                <c:pt idx="4">
                  <c:v>2020</c:v>
                </c:pt>
                <c:pt idx="5">
                  <c:v>1870</c:v>
                </c:pt>
                <c:pt idx="6">
                  <c:v>1800</c:v>
                </c:pt>
                <c:pt idx="7">
                  <c:v>1830</c:v>
                </c:pt>
                <c:pt idx="8">
                  <c:v>1970</c:v>
                </c:pt>
                <c:pt idx="9">
                  <c:v>2140</c:v>
                </c:pt>
                <c:pt idx="10">
                  <c:v>2260</c:v>
                </c:pt>
                <c:pt idx="11">
                  <c:v>2320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A8-4700-8276-B03947E69C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ln w="31750" cap="flat">
              <a:solidFill>
                <a:srgbClr val="00738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738C"/>
              </a:solidFill>
              <a:ln w="9525" cap="flat">
                <a:solidFill>
                  <a:srgbClr val="00738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2330</c:v>
                </c:pt>
                <c:pt idx="1">
                  <c:v>2270</c:v>
                </c:pt>
                <c:pt idx="2">
                  <c:v>2210</c:v>
                </c:pt>
                <c:pt idx="3">
                  <c:v>2110</c:v>
                </c:pt>
                <c:pt idx="4">
                  <c:v>2030</c:v>
                </c:pt>
                <c:pt idx="5">
                  <c:v>1880</c:v>
                </c:pt>
                <c:pt idx="6">
                  <c:v>1810</c:v>
                </c:pt>
                <c:pt idx="7">
                  <c:v>1840</c:v>
                </c:pt>
                <c:pt idx="8">
                  <c:v>1980</c:v>
                </c:pt>
                <c:pt idx="9">
                  <c:v>2150</c:v>
                </c:pt>
                <c:pt idx="10">
                  <c:v>2270</c:v>
                </c:pt>
                <c:pt idx="11">
                  <c:v>2330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A8-4700-8276-B03947E69C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>
              <a:solidFill>
                <a:srgbClr val="F7941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7941D"/>
              </a:solidFill>
              <a:ln w="9525" cap="flat">
                <a:solidFill>
                  <a:srgbClr val="F7941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2340</c:v>
                </c:pt>
                <c:pt idx="1">
                  <c:v>2280</c:v>
                </c:pt>
                <c:pt idx="2">
                  <c:v>2220</c:v>
                </c:pt>
                <c:pt idx="3">
                  <c:v>2120</c:v>
                </c:pt>
                <c:pt idx="4">
                  <c:v>2040</c:v>
                </c:pt>
                <c:pt idx="5">
                  <c:v>1890</c:v>
                </c:pt>
                <c:pt idx="6">
                  <c:v>1820</c:v>
                </c:pt>
                <c:pt idx="7">
                  <c:v>1850</c:v>
                </c:pt>
                <c:pt idx="8">
                  <c:v>1990</c:v>
                </c:pt>
                <c:pt idx="9">
                  <c:v>2160</c:v>
                </c:pt>
                <c:pt idx="10">
                  <c:v>2280</c:v>
                </c:pt>
                <c:pt idx="11">
                  <c:v>2340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A8-4700-8276-B03947E69C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r>
                  <a:rPr lang="en-IN" sz="1050" b="1" i="0" u="none" strike="noStrike">
                    <a:solidFill>
                      <a:schemeClr val="tx1"/>
                    </a:solidFill>
                    <a:latin typeface="Arial"/>
                  </a:rPr>
                  <a:t>Appointments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US" sz="1600" b="1" i="0" u="none" strike="noStrike" dirty="0">
                <a:solidFill>
                  <a:schemeClr val="tx1"/>
                </a:solidFill>
                <a:latin typeface="Arial"/>
              </a:rPr>
              <a:t>Outcome split (all 75,000 appointments)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3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369-4C6D-9A1B-4FEF2C67D934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69-4C6D-9A1B-4FEF2C67D934}"/>
              </c:ext>
            </c:extLst>
          </c:dPt>
          <c:dPt>
            <c:idx val="2"/>
            <c:bubble3D val="0"/>
            <c:spPr>
              <a:solidFill>
                <a:srgbClr val="F794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69-4C6D-9A1B-4FEF2C67D934}"/>
              </c:ext>
            </c:extLst>
          </c:dPt>
          <c:dPt>
            <c:idx val="3"/>
            <c:bubble3D val="0"/>
            <c:spPr>
              <a:solidFill>
                <a:srgbClr val="8A8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69-4C6D-9A1B-4FEF2C67D93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369-4C6D-9A1B-4FEF2C67D93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369-4C6D-9A1B-4FEF2C67D93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69-4C6D-9A1B-4FEF2C67D93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369-4C6D-9A1B-4FEF2C67D93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Completed</c:v>
                </c:pt>
                <c:pt idx="1">
                  <c:v>No-Show</c:v>
                </c:pt>
                <c:pt idx="2">
                  <c:v>Cancelled</c:v>
                </c:pt>
                <c:pt idx="3">
                  <c:v>Scheduled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57224</c:v>
                </c:pt>
                <c:pt idx="1">
                  <c:v>11584</c:v>
                </c:pt>
                <c:pt idx="2">
                  <c:v>5844</c:v>
                </c:pt>
                <c:pt idx="3">
                  <c:v>2348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369-4C6D-9A1B-4FEF2C67D9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IN" sz="1600" b="1" i="0" u="none" strike="noStrike" dirty="0">
                <a:solidFill>
                  <a:schemeClr val="tx1"/>
                </a:solidFill>
                <a:latin typeface="Arial"/>
              </a:rPr>
              <a:t>Booking channel mix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bookings</c:v>
                </c:pt>
              </c:strCache>
            </c:strRef>
          </c:tx>
          <c:spPr>
            <a:solidFill>
              <a:srgbClr val="00738C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58595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Apollo App</c:v>
                </c:pt>
                <c:pt idx="1">
                  <c:v>Website</c:v>
                </c:pt>
                <c:pt idx="2">
                  <c:v>Call Centre</c:v>
                </c:pt>
                <c:pt idx="3">
                  <c:v>Walk-In</c:v>
                </c:pt>
                <c:pt idx="4">
                  <c:v>Partner App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2C-4CB1-864B-6C84AC4A65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1" i="0" u="none" strike="noStrike">
                <a:solidFill>
                  <a:schemeClr val="tx1"/>
                </a:solidFill>
                <a:latin typeface="Arial"/>
              </a:defRPr>
            </a:pPr>
            <a:r>
              <a:rPr lang="en-US" sz="1250" b="1" i="0" u="none" strike="noStrike">
                <a:solidFill>
                  <a:schemeClr val="tx1"/>
                </a:solidFill>
                <a:latin typeface="Arial"/>
              </a:rPr>
              <a:t>No-show rate by specialty (highest &amp; lowest)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%</c:v>
                </c:pt>
              </c:strCache>
            </c:strRef>
          </c:tx>
          <c:spPr>
            <a:solidFill>
              <a:srgbClr val="0073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Psychiatry</c:v>
                </c:pt>
                <c:pt idx="1">
                  <c:v>Dermatology</c:v>
                </c:pt>
                <c:pt idx="2">
                  <c:v>ENT</c:v>
                </c:pt>
                <c:pt idx="3">
                  <c:v>Cardiology</c:v>
                </c:pt>
                <c:pt idx="4">
                  <c:v>Orthopaedics</c:v>
                </c:pt>
                <c:pt idx="5">
                  <c:v>Neurology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24.5</c:v>
                </c:pt>
                <c:pt idx="1">
                  <c:v>21.3</c:v>
                </c:pt>
                <c:pt idx="2">
                  <c:v>19</c:v>
                </c:pt>
                <c:pt idx="3">
                  <c:v>15.8</c:v>
                </c:pt>
                <c:pt idx="4">
                  <c:v>13.9</c:v>
                </c:pt>
                <c:pt idx="5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87-4F9E-A406-562A749E88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1" i="0" u="none" strike="noStrike">
                <a:solidFill>
                  <a:schemeClr val="tx1"/>
                </a:solidFill>
                <a:latin typeface="Arial"/>
              </a:defRPr>
            </a:pPr>
            <a:r>
              <a:rPr lang="en-US" sz="1250" b="1" i="0" u="none" strike="noStrike">
                <a:solidFill>
                  <a:schemeClr val="tx1"/>
                </a:solidFill>
                <a:latin typeface="Arial"/>
              </a:rPr>
              <a:t>No-show rate by city (highest &amp; lowest)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%</c:v>
                </c:pt>
              </c:strCache>
            </c:strRef>
          </c:tx>
          <c:spPr>
            <a:solidFill>
              <a:srgbClr val="F7941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Lucknow</c:v>
                </c:pt>
                <c:pt idx="1">
                  <c:v>Kolkata</c:v>
                </c:pt>
                <c:pt idx="2">
                  <c:v>Chennai</c:v>
                </c:pt>
                <c:pt idx="3">
                  <c:v>Hyderabad</c:v>
                </c:pt>
                <c:pt idx="4">
                  <c:v>Bengaluru</c:v>
                </c:pt>
                <c:pt idx="5">
                  <c:v>Pune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17.2</c:v>
                </c:pt>
                <c:pt idx="1">
                  <c:v>16.600000000000001</c:v>
                </c:pt>
                <c:pt idx="2">
                  <c:v>16.100000000000001</c:v>
                </c:pt>
                <c:pt idx="3">
                  <c:v>15.4</c:v>
                </c:pt>
                <c:pt idx="4">
                  <c:v>14.2</c:v>
                </c:pt>
                <c:pt idx="5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CD-4CEA-B0D1-7C62D73A68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US" sz="1800" b="0" i="0" u="none" strike="noStrike" dirty="0">
                <a:solidFill>
                  <a:schemeClr val="tx1"/>
                </a:solidFill>
                <a:latin typeface="Arial"/>
              </a:rPr>
              <a:t>No-show rate by booking lead time (walk-ins excluded</a:t>
            </a:r>
            <a:r>
              <a:rPr lang="en-US" sz="1600" b="0" i="0" u="none" strike="noStrike" dirty="0">
                <a:solidFill>
                  <a:srgbClr val="00475E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%</c:v>
                </c:pt>
              </c:strCache>
            </c:strRef>
          </c:tx>
          <c:spPr>
            <a:solidFill>
              <a:srgbClr val="0073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 day</c:v>
                </c:pt>
                <c:pt idx="1">
                  <c:v>2-3 days</c:v>
                </c:pt>
                <c:pt idx="2">
                  <c:v>4-7 days</c:v>
                </c:pt>
                <c:pt idx="3">
                  <c:v>8-14 days</c:v>
                </c:pt>
                <c:pt idx="4">
                  <c:v>15-21 days</c:v>
                </c:pt>
                <c:pt idx="5">
                  <c:v>22-30 days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13.2</c:v>
                </c:pt>
                <c:pt idx="1">
                  <c:v>15.1</c:v>
                </c:pt>
                <c:pt idx="2">
                  <c:v>16.5</c:v>
                </c:pt>
                <c:pt idx="3">
                  <c:v>18.8</c:v>
                </c:pt>
                <c:pt idx="4">
                  <c:v>19.5</c:v>
                </c:pt>
                <c:pt idx="5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E-4354-B388-F5308F8545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IN" sz="1600" b="1" i="0" u="none" strike="noStrike" dirty="0">
                <a:solidFill>
                  <a:schemeClr val="tx1"/>
                </a:solidFill>
                <a:latin typeface="Arial"/>
              </a:rPr>
              <a:t>By time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of day</c:v>
                </c:pt>
              </c:strCache>
            </c:strRef>
          </c:tx>
          <c:spPr>
            <a:solidFill>
              <a:srgbClr val="0073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13.7</c:v>
                </c:pt>
                <c:pt idx="1">
                  <c:v>17.8</c:v>
                </c:pt>
                <c:pt idx="2">
                  <c:v>18.399999999999999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7D-4CC9-B77A-D1AE6B5BA3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IN" sz="1600" b="1" i="0" u="none" strike="noStrike" dirty="0">
                <a:solidFill>
                  <a:schemeClr val="tx1"/>
                </a:solidFill>
                <a:latin typeface="Arial"/>
              </a:rPr>
              <a:t>By day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 type</c:v>
                </c:pt>
              </c:strCache>
            </c:strRef>
          </c:tx>
          <c:spPr>
            <a:solidFill>
              <a:srgbClr val="F7941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14.8</c:v>
                </c:pt>
                <c:pt idx="1">
                  <c:v>18.7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42-4182-80E1-7F68D68F23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IN" sz="1600" b="1" i="0" u="none" strike="noStrike" dirty="0">
                <a:solidFill>
                  <a:schemeClr val="tx1"/>
                </a:solidFill>
                <a:latin typeface="Arial"/>
              </a:rPr>
              <a:t>Risk flags stack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flags present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 (none)</c:v>
                </c:pt>
                <c:pt idx="1">
                  <c:v>1</c:v>
                </c:pt>
                <c:pt idx="2">
                  <c:v>2</c:v>
                </c:pt>
                <c:pt idx="3">
                  <c:v>3 (all)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14.1</c:v>
                </c:pt>
                <c:pt idx="1">
                  <c:v>16.899999999999999</c:v>
                </c:pt>
                <c:pt idx="2">
                  <c:v>19.8</c:v>
                </c:pt>
                <c:pt idx="3">
                  <c:v>23.2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8B-4DDF-B40F-8A7AFDB425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IN" sz="1600" b="1" i="0" u="none" strike="noStrike" dirty="0">
                <a:solidFill>
                  <a:schemeClr val="tx1"/>
                </a:solidFill>
                <a:latin typeface="Arial"/>
              </a:rPr>
              <a:t>By appointment type</a:t>
            </a:r>
          </a:p>
        </c:rich>
      </c:tx>
      <c:layout>
        <c:manualLayout>
          <c:xMode val="edge"/>
          <c:yMode val="edge"/>
          <c:x val="0.34948210922787193"/>
          <c:y val="3.6231884057971016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%</c:v>
                </c:pt>
              </c:strCache>
            </c:strRef>
          </c:tx>
          <c:spPr>
            <a:solidFill>
              <a:srgbClr val="0073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In-Clinic</c:v>
                </c:pt>
                <c:pt idx="1">
                  <c:v>Video Consult</c:v>
                </c:pt>
                <c:pt idx="2">
                  <c:v>Home Visit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12.2</c:v>
                </c:pt>
                <c:pt idx="1">
                  <c:v>21.1</c:v>
                </c:pt>
                <c:pt idx="2">
                  <c:v>26.3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6F-43EF-8417-62221D2896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IN" sz="1600" b="1" i="0" u="none" strike="noStrike" dirty="0">
                <a:solidFill>
                  <a:schemeClr val="tx1"/>
                </a:solidFill>
                <a:latin typeface="Arial"/>
              </a:rPr>
              <a:t>By booking channel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865326004331426"/>
          <c:y val="9.7826086956521729E-2"/>
          <c:w val="0.78131803708962611"/>
          <c:h val="0.8072765700483092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%</c:v>
                </c:pt>
              </c:strCache>
            </c:strRef>
          </c:tx>
          <c:spPr>
            <a:solidFill>
              <a:srgbClr val="F7941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Apollo App</c:v>
                </c:pt>
                <c:pt idx="1">
                  <c:v>Call Centre</c:v>
                </c:pt>
                <c:pt idx="2">
                  <c:v>Website</c:v>
                </c:pt>
                <c:pt idx="3">
                  <c:v>Partner App</c:v>
                </c:pt>
                <c:pt idx="4">
                  <c:v>Walk-In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14.2</c:v>
                </c:pt>
                <c:pt idx="1">
                  <c:v>15.2</c:v>
                </c:pt>
                <c:pt idx="2">
                  <c:v>15.9</c:v>
                </c:pt>
                <c:pt idx="3">
                  <c:v>18.100000000000001</c:v>
                </c:pt>
                <c:pt idx="4">
                  <c:v>20.9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98-4FCE-8E09-A419FD9991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US" sz="1800" b="0" i="0" u="none" strike="noStrike" dirty="0">
                <a:solidFill>
                  <a:schemeClr val="tx1"/>
                </a:solidFill>
                <a:latin typeface="Arial"/>
              </a:rPr>
              <a:t>No-show rate by reminder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Reminder</c:v>
                </c:pt>
                <c:pt idx="1">
                  <c:v>SMS Only</c:v>
                </c:pt>
                <c:pt idx="2">
                  <c:v>SMS + WhatsApp</c:v>
                </c:pt>
                <c:pt idx="3">
                  <c:v>SMS + WhatsApp + 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30.2</c:v>
                </c:pt>
                <c:pt idx="1">
                  <c:v>16.3</c:v>
                </c:pt>
                <c:pt idx="2">
                  <c:v>13.5</c:v>
                </c:pt>
                <c:pt idx="3">
                  <c:v>11.4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D-4606-AAC6-8956F73FB6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US" sz="1400" b="0" i="0" u="none" strike="noStrike" dirty="0">
                <a:solidFill>
                  <a:schemeClr val="tx1"/>
                </a:solidFill>
                <a:latin typeface="Arial"/>
              </a:rPr>
              <a:t>Risk compounds with prior no-shows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%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C0392B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 priors</c:v>
                </c:pt>
                <c:pt idx="1">
                  <c:v>1 prior</c:v>
                </c:pt>
                <c:pt idx="2">
                  <c:v>2 priors</c:v>
                </c:pt>
                <c:pt idx="3">
                  <c:v>3 priors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15.2</c:v>
                </c:pt>
                <c:pt idx="1">
                  <c:v>20.3</c:v>
                </c:pt>
                <c:pt idx="2">
                  <c:v>26.7</c:v>
                </c:pt>
                <c:pt idx="3">
                  <c:v>30.6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C6-4765-89B1-629745847B5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IN" sz="1400" b="0" i="0" u="none" strike="noStrike" dirty="0">
                <a:solidFill>
                  <a:schemeClr val="tx1"/>
                </a:solidFill>
                <a:latin typeface="Arial"/>
              </a:rPr>
              <a:t>Membership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0073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Non-member</c:v>
                </c:pt>
                <c:pt idx="1">
                  <c:v>Member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16.899999999999999</c:v>
                </c:pt>
                <c:pt idx="1">
                  <c:v>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D-452B-BB1D-51C2386AEA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IN" sz="1400" b="0" i="0" u="none" strike="noStrike" dirty="0">
                <a:solidFill>
                  <a:schemeClr val="tx1"/>
                </a:solidFill>
                <a:latin typeface="Arial"/>
              </a:rPr>
              <a:t>First-time vs returning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</c:v>
                </c:pt>
              </c:strCache>
            </c:strRef>
          </c:tx>
          <c:spPr>
            <a:solidFill>
              <a:srgbClr val="F7941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First visit</c:v>
                </c:pt>
                <c:pt idx="1">
                  <c:v>Returning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66.8</c:v>
                </c:pt>
                <c:pt idx="1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BC-4B8B-A3DA-65BEDA1206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US" sz="1600" b="0" i="0" u="none" strike="noStrike" dirty="0">
                <a:solidFill>
                  <a:srgbClr val="00475E"/>
                </a:solidFill>
                <a:latin typeface="Arial"/>
              </a:rPr>
              <a:t>No-show rate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 group</c:v>
                </c:pt>
              </c:strCache>
            </c:strRef>
          </c:tx>
          <c:spPr>
            <a:solidFill>
              <a:srgbClr val="0073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Child
0-12</c:v>
                </c:pt>
                <c:pt idx="1">
                  <c:v>Teen
13-18</c:v>
                </c:pt>
                <c:pt idx="2">
                  <c:v>Young Adult
19-30</c:v>
                </c:pt>
                <c:pt idx="3">
                  <c:v>Adult
31-45</c:v>
                </c:pt>
                <c:pt idx="4">
                  <c:v>Middle-aged
46-60</c:v>
                </c:pt>
                <c:pt idx="5">
                  <c:v>Senior
60+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13.5</c:v>
                </c:pt>
                <c:pt idx="1">
                  <c:v>14.7</c:v>
                </c:pt>
                <c:pt idx="2">
                  <c:v>17.899999999999999</c:v>
                </c:pt>
                <c:pt idx="3">
                  <c:v>18</c:v>
                </c:pt>
                <c:pt idx="4">
                  <c:v>16.8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DD-4479-9887-2208D3AE3E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US" sz="1600" b="0" i="0" u="none" strike="noStrike" dirty="0">
                <a:solidFill>
                  <a:schemeClr val="tx1"/>
                </a:solidFill>
                <a:latin typeface="Arial"/>
              </a:rPr>
              <a:t>Revenue realized vs lost (INR millions)</a:t>
            </a:r>
          </a:p>
        </c:rich>
      </c:tx>
      <c:layout>
        <c:manualLayout>
          <c:xMode val="edge"/>
          <c:yMode val="edge"/>
          <c:x val="0.20361676144648586"/>
          <c:y val="2.4154589371980676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INR millions</c:v>
                </c:pt>
              </c:strCache>
            </c:strRef>
          </c:tx>
          <c:spPr>
            <a:solidFill>
              <a:srgbClr val="00738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Revenue realized
(Completed)</c:v>
                </c:pt>
                <c:pt idx="1">
                  <c:v>Listed fees lost
(No-Show)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73.900000000000006</c:v>
                </c:pt>
                <c:pt idx="1">
                  <c:v>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21-42C7-B519-E1540F035C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1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US" sz="1400" b="1" i="0" u="none" strike="noStrike" dirty="0">
                <a:solidFill>
                  <a:schemeClr val="tx1"/>
                </a:solidFill>
                <a:latin typeface="Arial"/>
              </a:rPr>
              <a:t>Avg realized revenue per visit, by specialty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(INR)</c:v>
                </c:pt>
              </c:strCache>
            </c:strRef>
          </c:tx>
          <c:spPr>
            <a:solidFill>
              <a:srgbClr val="00738C"/>
            </a:solidFill>
            <a:effectLst/>
          </c:spPr>
          <c:invertIfNegative val="0"/>
          <c:dLbls>
            <c:numFmt formatCode="&quot;₹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Psychiatry</c:v>
                </c:pt>
                <c:pt idx="1">
                  <c:v>Neurology</c:v>
                </c:pt>
                <c:pt idx="2">
                  <c:v>Urology</c:v>
                </c:pt>
                <c:pt idx="3">
                  <c:v>Cardiology</c:v>
                </c:pt>
                <c:pt idx="4">
                  <c:v>Dermatology</c:v>
                </c:pt>
                <c:pt idx="5">
                  <c:v>Paediatrics</c:v>
                </c:pt>
                <c:pt idx="6">
                  <c:v>General
Physician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2640</c:v>
                </c:pt>
                <c:pt idx="1">
                  <c:v>2076</c:v>
                </c:pt>
                <c:pt idx="2">
                  <c:v>1989</c:v>
                </c:pt>
                <c:pt idx="3">
                  <c:v>1941</c:v>
                </c:pt>
                <c:pt idx="4">
                  <c:v>1307</c:v>
                </c:pt>
                <c:pt idx="5">
                  <c:v>950</c:v>
                </c:pt>
                <c:pt idx="6">
                  <c:v>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B7-4F0D-AABA-405DB28C6A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chemeClr val="tx1"/>
                </a:solidFill>
                <a:latin typeface="Arial"/>
              </a:defRPr>
            </a:pPr>
            <a:r>
              <a:rPr lang="en-US" sz="1400" b="1" i="0" u="none" strike="noStrike">
                <a:solidFill>
                  <a:schemeClr val="tx1"/>
                </a:solidFill>
                <a:latin typeface="Arial"/>
              </a:rPr>
              <a:t>Avg revenue by appointment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(INR)</c:v>
                </c:pt>
              </c:strCache>
            </c:strRef>
          </c:tx>
          <c:spPr>
            <a:solidFill>
              <a:srgbClr val="F7941D"/>
            </a:solidFill>
            <a:effectLst/>
          </c:spPr>
          <c:invertIfNegative val="0"/>
          <c:dLbls>
            <c:numFmt formatCode="&quot;₹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Home Visit</c:v>
                </c:pt>
                <c:pt idx="1">
                  <c:v>In-Clinic</c:v>
                </c:pt>
                <c:pt idx="2">
                  <c:v>Video Consult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1960</c:v>
                </c:pt>
                <c:pt idx="1">
                  <c:v>1300</c:v>
                </c:pt>
                <c:pt idx="2">
                  <c:v>1098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CD-4042-8AAC-7F83A717A3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475E"/>
                </a:solidFill>
                <a:latin typeface="Arial"/>
              </a:defRPr>
            </a:pPr>
            <a:r>
              <a:rPr lang="en-US" sz="1400" b="1" i="0" u="none" strike="noStrike" dirty="0">
                <a:solidFill>
                  <a:schemeClr val="tx1"/>
                </a:solidFill>
                <a:latin typeface="Arial"/>
              </a:rPr>
              <a:t>Consultation fee by doctor experience (joined with doctors dim)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fee (INR)</c:v>
                </c:pt>
              </c:strCache>
            </c:strRef>
          </c:tx>
          <c:spPr>
            <a:ln w="31750" cap="flat">
              <a:solidFill>
                <a:srgbClr val="00738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738C"/>
              </a:solidFill>
              <a:ln w="9525" cap="flat">
                <a:solidFill>
                  <a:srgbClr val="00738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0-5 yrs</c:v>
                </c:pt>
                <c:pt idx="1">
                  <c:v>6-10 yrs</c:v>
                </c:pt>
                <c:pt idx="2">
                  <c:v>11-15 yrs</c:v>
                </c:pt>
                <c:pt idx="3">
                  <c:v>16-20 yrs</c:v>
                </c:pt>
                <c:pt idx="4">
                  <c:v>21-25 yrs</c:v>
                </c:pt>
                <c:pt idx="5">
                  <c:v>26-32 yrs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1366</c:v>
                </c:pt>
                <c:pt idx="1">
                  <c:v>1505</c:v>
                </c:pt>
                <c:pt idx="2">
                  <c:v>1550</c:v>
                </c:pt>
                <c:pt idx="3">
                  <c:v>1588</c:v>
                </c:pt>
                <c:pt idx="4">
                  <c:v>1941</c:v>
                </c:pt>
                <c:pt idx="5">
                  <c:v>1883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65-4389-A568-32B21D143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34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0073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F7941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&amp; No-Show Analytics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6451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of 75,000 Appointments Across 15 Cities (2022–2024)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0123170" cy="0"/>
          </a:xfrm>
          <a:prstGeom prst="line">
            <a:avLst/>
          </a:prstGeom>
          <a:noFill/>
          <a:ln w="31750">
            <a:solidFill>
              <a:srgbClr val="F794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1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AF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– Operations &amp; Digital Strategy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dirty="0">
                <a:solidFill>
                  <a:srgbClr val="AF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 Katiyar (cohort-13)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AF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Behaviour  •  No-Show Drivers  •  Reminders &amp; Engagement  •  Financial Impact  •  Doctor Utilisation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005840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F794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Volume trend, outcome mix, and booking-channel split, 2022–2024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03704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00738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0370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2357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Drivers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6320" y="215798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Specialty, city, lead time, time slot, appointment type and channel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F7941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0720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8620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&amp; Engagement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46320" y="2852928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reminders, prior history and membership change attendance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410712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00738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1071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46557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Segmentation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46320" y="3442623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chronic condition and visit reason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014216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F7941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14216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10108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46320" y="4091847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to no-shows, and revenue by specialty, city and insurance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00738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1772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468387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Utilisation &amp; Quality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30775" y="4708973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Utilisation, wait time, consultation duration and satisfaction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221224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F7941D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22122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52349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46320" y="522122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prioritised action plan to reduce no-shows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655" y="289746"/>
            <a:ext cx="1005840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1655" y="783183"/>
            <a:ext cx="1005840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scope and how no-show rate is defined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230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4F0F3"/>
          </a:solidFill>
          <a:ln w="12700">
            <a:solidFill>
              <a:srgbClr val="E4F0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28145"/>
            <a:ext cx="2386584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67512" y="2284880"/>
            <a:ext cx="2386584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records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52 fields, 2022–2024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64408" y="16230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4F0F3"/>
          </a:solidFill>
          <a:ln w="12700">
            <a:solidFill>
              <a:srgbClr val="E4F0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616202"/>
            <a:ext cx="2386584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274113"/>
            <a:ext cx="2386584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Doctors across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 cities &amp; 14 specialties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4F0F3"/>
          </a:solidFill>
          <a:ln w="12700">
            <a:solidFill>
              <a:srgbClr val="E4F0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1586484"/>
            <a:ext cx="2386584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72,652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08192" y="2245310"/>
            <a:ext cx="2386584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Resolved appointments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used for no-show rates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4F0F3"/>
          </a:solidFill>
          <a:ln w="12700">
            <a:solidFill>
              <a:srgbClr val="E4F0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7968" y="1561338"/>
            <a:ext cx="2386584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05672" y="2234336"/>
            <a:ext cx="2386584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 or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orphaned joins found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05742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rate, as used throughout this deck: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40080" y="35526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00475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6616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÷ (Completed + No-Show + Cancelled)  —  Scheduled rows excluded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1655" y="4381599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2,348 appointments are still “Scheduled” (all December 2024) — excluded from every rate so open bookings don’t dilute the results.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and service-quality fields (revenue, wait time, satisfaction, utilisation) are populated only for Completed visits by design, and are scoped that way throughout.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Rankings were re-tested under an alternative definition that also excludes Cancelled rows — results were unchanged, confirming the findings aren’t an artefact of this choice.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129192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flat — but strongly seasonal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382059727"/>
              </p:ext>
            </p:extLst>
          </p:nvPr>
        </p:nvGraphicFramePr>
        <p:xfrm>
          <a:off x="548640" y="15544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950615" y="204337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41580" y="2939486"/>
            <a:ext cx="3931920" cy="2821234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Volume is essentially flat year over year (~24.9K appointments/year, &lt;1% YoY growth).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in Q4–Q1 (January busiest) and dips June–August, a ~1.3x peak-to-trough swing.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staffing and slot-planning signal, not a growth signal — plan capacity to the seasonal curve.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E621CCE-8B09-6421-F7A4-FCC7EA6E0BF9}"/>
              </a:ext>
            </a:extLst>
          </p:cNvPr>
          <p:cNvSpPr/>
          <p:nvPr/>
        </p:nvSpPr>
        <p:spPr>
          <a:xfrm>
            <a:off x="7950615" y="1982217"/>
            <a:ext cx="3550615" cy="5099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sz="2000" b="1" dirty="0">
                <a:solidFill>
                  <a:srgbClr val="00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3880" y="800100"/>
            <a:ext cx="1004316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6 resolved appointments is a no-show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190169505"/>
              </p:ext>
            </p:extLst>
          </p:nvPr>
        </p:nvGraphicFramePr>
        <p:xfrm>
          <a:off x="548640" y="160020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16265842"/>
              </p:ext>
            </p:extLst>
          </p:nvPr>
        </p:nvGraphicFramePr>
        <p:xfrm>
          <a:off x="5852160" y="1600200"/>
          <a:ext cx="5806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Apollo App + Website drive 70% of all bookings, and the mix has stayed stable across 2022–2024.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DRIVERS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05840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Specialty is a strong lever — city barely matters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194926877"/>
              </p:ext>
            </p:extLst>
          </p:nvPr>
        </p:nvGraphicFramePr>
        <p:xfrm>
          <a:off x="457200" y="1554480"/>
          <a:ext cx="57607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3810715191"/>
              </p:ext>
            </p:extLst>
          </p:nvPr>
        </p:nvGraphicFramePr>
        <p:xfrm>
          <a:off x="6309360" y="155448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Psychiatry and Dermatology run 2.3x Neurology’s rate. City spreads only ~4 pp (Pune to Lucknow) — target by specialty, not geography.</a:t>
            </a:r>
            <a:endParaRPr lang="en-US" sz="1400" b="1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DRIVERS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79274"/>
            <a:ext cx="1005840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earlier the booking, the more likely the miss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831521539"/>
              </p:ext>
            </p:extLst>
          </p:nvPr>
        </p:nvGraphicFramePr>
        <p:xfrm>
          <a:off x="548640" y="1659636"/>
          <a:ext cx="7406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221827" y="1660324"/>
            <a:ext cx="3474720" cy="3200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221827" y="2260928"/>
            <a:ext cx="3822689" cy="322547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Rate climbs from ~13% (1-day lead) to 22% at 22–30 days — roughly +0.3 pp per extra day.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Same-day walk-ins (20.9%) distort a raw same-day bucket — excluding them restores a clean trend.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15+ day bookings miss ~1.3x as often as 0–3 day bookings.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NO-SHOW DRIVERS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1014984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Evening, weekend and long-lead risks stack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938848702"/>
              </p:ext>
            </p:extLst>
          </p:nvPr>
        </p:nvGraphicFramePr>
        <p:xfrm>
          <a:off x="457200" y="1554480"/>
          <a:ext cx="35661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1775333543"/>
              </p:ext>
            </p:extLst>
          </p:nvPr>
        </p:nvGraphicFramePr>
        <p:xfrm>
          <a:off x="4160520" y="1554480"/>
          <a:ext cx="35661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>
            <p:extLst>
              <p:ext uri="{D42A27DB-BD31-4B8C-83A1-F6EECF244321}">
                <p14:modId xmlns:p14="http://schemas.microsoft.com/office/powerpoint/2010/main" val="1182231378"/>
              </p:ext>
            </p:extLst>
          </p:nvPr>
        </p:nvGraphicFramePr>
        <p:xfrm>
          <a:off x="7863840" y="155448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5193792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4F0F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3"/>
          <p:cNvSpPr/>
          <p:nvPr/>
        </p:nvSpPr>
        <p:spPr>
          <a:xfrm>
            <a:off x="487680" y="5193202"/>
            <a:ext cx="11216640" cy="105156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(18.4%) and weekend (18.7%) slots each run ~4–5 pp hotter than morning/weekday. Flags compound: an appointment carrying all three (evening + weekend + 14+ day lead) misses 23.2% of the time — the hottest weekend-evening slots are the best target for extra reminders.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DRIVERS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1655" y="941439"/>
            <a:ext cx="1106424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and at-home formats are hardest to keep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04618226"/>
              </p:ext>
            </p:extLst>
          </p:nvPr>
        </p:nvGraphicFramePr>
        <p:xfrm>
          <a:off x="548640" y="1581519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3894736864"/>
              </p:ext>
            </p:extLst>
          </p:nvPr>
        </p:nvGraphicFramePr>
        <p:xfrm>
          <a:off x="5989320" y="1689673"/>
          <a:ext cx="5577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06440"/>
            <a:ext cx="11064240" cy="704088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Home Visits (26.3%) are 2.2x riskier than In-Clinic; Video Consult is 1.7x. Together they’re ~35% of volume but ~50% of all no-shows. The Apollo App has the lowest channel rate (14.2%) — its reminder/reschedule flow appears to work.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6830"/>
            <a:ext cx="10058400" cy="29260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&amp; ENGAGEMENT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Reminders are the strongest controllable lever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263314944"/>
              </p:ext>
            </p:extLst>
          </p:nvPr>
        </p:nvGraphicFramePr>
        <p:xfrm>
          <a:off x="548640" y="1600200"/>
          <a:ext cx="7040880" cy="4328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40040" y="1580998"/>
            <a:ext cx="3703320" cy="1417320"/>
          </a:xfrm>
          <a:prstGeom prst="roundRect">
            <a:avLst>
              <a:gd name="adj" fmla="val 5161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6" name="Text 3"/>
          <p:cNvSpPr/>
          <p:nvPr/>
        </p:nvSpPr>
        <p:spPr>
          <a:xfrm>
            <a:off x="8022031" y="1446079"/>
            <a:ext cx="3483864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2.6x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22031" y="2255367"/>
            <a:ext cx="3483864" cy="5385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lower odds of a no-show with the full 3-channel bundle vs none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940040" y="3200400"/>
            <a:ext cx="3703320" cy="1417320"/>
          </a:xfrm>
          <a:prstGeom prst="roundRect">
            <a:avLst>
              <a:gd name="adj" fmla="val 5161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9" name="Text 6"/>
          <p:cNvSpPr/>
          <p:nvPr/>
        </p:nvSpPr>
        <p:spPr>
          <a:xfrm>
            <a:off x="7992229" y="3034554"/>
            <a:ext cx="3483864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2600" dirty="0">
              <a:solidFill>
                <a:srgbClr val="C0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992229" y="3886318"/>
            <a:ext cx="3483864" cy="5385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 appointments still go out with zero reminder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940040" y="4893057"/>
            <a:ext cx="3703320" cy="1376526"/>
          </a:xfrm>
          <a:prstGeom prst="roundRect">
            <a:avLst>
              <a:gd name="adj" fmla="val 7273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12" name="Text 9"/>
          <p:cNvSpPr/>
          <p:nvPr/>
        </p:nvSpPr>
        <p:spPr>
          <a:xfrm>
            <a:off x="8022030" y="5038687"/>
            <a:ext cx="3401873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= biggest</a:t>
            </a:r>
            <a:endParaRPr lang="en-US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r>
              <a:rPr lang="en-US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lift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09560" y="5589893"/>
            <a:ext cx="3483864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single SMS already delivers a 46% relative reduction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319"/>
            <a:ext cx="1005840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&amp; ENGAGEMENT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22093" y="708807"/>
            <a:ext cx="1106424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history predicts attendance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68385753"/>
              </p:ext>
            </p:extLst>
          </p:nvPr>
        </p:nvGraphicFramePr>
        <p:xfrm>
          <a:off x="457200" y="1600200"/>
          <a:ext cx="4754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510381301"/>
              </p:ext>
            </p:extLst>
          </p:nvPr>
        </p:nvGraphicFramePr>
        <p:xfrm>
          <a:off x="5394960" y="1600200"/>
          <a:ext cx="3017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>
            <p:extLst>
              <p:ext uri="{D42A27DB-BD31-4B8C-83A1-F6EECF244321}">
                <p14:modId xmlns:p14="http://schemas.microsoft.com/office/powerpoint/2010/main" val="3192247596"/>
              </p:ext>
            </p:extLst>
          </p:nvPr>
        </p:nvGraphicFramePr>
        <p:xfrm>
          <a:off x="8595360" y="1600200"/>
          <a:ext cx="3108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 2"/>
          <p:cNvSpPr/>
          <p:nvPr/>
        </p:nvSpPr>
        <p:spPr>
          <a:xfrm>
            <a:off x="522093" y="5833872"/>
            <a:ext cx="1106424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First-visit patients no-show at ~67% vs ~9% for returning patients, and account for the majority of all no-shows from just ~13% of volume — by far the single strongest signal in the data.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SEGMENTATION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06424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has a mild effect; gender and condition don’t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929772792"/>
              </p:ext>
            </p:extLst>
          </p:nvPr>
        </p:nvGraphicFramePr>
        <p:xfrm>
          <a:off x="457200" y="1600200"/>
          <a:ext cx="664169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178040" y="2500835"/>
            <a:ext cx="4706702" cy="309372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Gender: 16.0% Female vs 15.8% Male — no meaningful gap.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Chronic condition on file: all conditions cluster within 1.5 pp of each other — having one doesn’t predict no-shows.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Visit reason: whole range is ~2 pp across 14 reasons — explains volume, not risk. Follow-up (8.5K) and Routine Checkup (8.4K) are the most common.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9AA5EB60-FAFC-E4CC-FCF5-270B64DD20E3}"/>
              </a:ext>
            </a:extLst>
          </p:cNvPr>
          <p:cNvSpPr/>
          <p:nvPr/>
        </p:nvSpPr>
        <p:spPr>
          <a:xfrm>
            <a:off x="7178039" y="1840009"/>
            <a:ext cx="4706701" cy="5099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tested — weak or no effect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795" y="275746"/>
            <a:ext cx="10058400" cy="39702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0255" y="817774"/>
            <a:ext cx="1106424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No-shows forgo ~₹19.7M in listed fees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0613750"/>
              </p:ext>
            </p:extLst>
          </p:nvPr>
        </p:nvGraphicFramePr>
        <p:xfrm>
          <a:off x="548640" y="160020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43855" y="2015109"/>
            <a:ext cx="2606040" cy="1325880"/>
          </a:xfrm>
          <a:prstGeom prst="roundRect">
            <a:avLst>
              <a:gd name="adj" fmla="val 551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6" name="Text 3"/>
          <p:cNvSpPr/>
          <p:nvPr/>
        </p:nvSpPr>
        <p:spPr>
          <a:xfrm>
            <a:off x="6510528" y="1877707"/>
            <a:ext cx="2386584" cy="7292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510528" y="2585322"/>
            <a:ext cx="2386584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forgone on top of realized revenue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9296783" y="2015109"/>
            <a:ext cx="2514600" cy="1325880"/>
          </a:xfrm>
          <a:prstGeom prst="roundRect">
            <a:avLst>
              <a:gd name="adj" fmla="val 551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9" name="Text 6"/>
          <p:cNvSpPr/>
          <p:nvPr/>
        </p:nvSpPr>
        <p:spPr>
          <a:xfrm>
            <a:off x="9210751" y="1870108"/>
            <a:ext cx="2295144" cy="7292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~₹6.6M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332976" y="2570226"/>
            <a:ext cx="2295144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loss at current no-show rates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28232" y="3858768"/>
            <a:ext cx="2606040" cy="1325880"/>
          </a:xfrm>
          <a:prstGeom prst="roundRect">
            <a:avLst>
              <a:gd name="adj" fmla="val 551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12" name="Text 9"/>
          <p:cNvSpPr/>
          <p:nvPr/>
        </p:nvSpPr>
        <p:spPr>
          <a:xfrm>
            <a:off x="6510528" y="3802478"/>
            <a:ext cx="2386584" cy="7292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11,584</a:t>
            </a:r>
            <a:endParaRPr lang="en-US" sz="2600" dirty="0">
              <a:solidFill>
                <a:srgbClr val="C0000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37960" y="4518174"/>
            <a:ext cx="2386584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appointments over 3 years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296783" y="3858768"/>
            <a:ext cx="2514600" cy="1325880"/>
          </a:xfrm>
          <a:prstGeom prst="roundRect">
            <a:avLst>
              <a:gd name="adj" fmla="val 551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/>
          <p:nvPr/>
        </p:nvSpPr>
        <p:spPr>
          <a:xfrm>
            <a:off x="9296783" y="3817593"/>
            <a:ext cx="2295144" cy="7292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₹1,625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9348216" y="4546827"/>
            <a:ext cx="2295144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listed fee per missed appointment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28231" y="5438393"/>
            <a:ext cx="5383151" cy="123770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ceiling estimate (assumes every missed slot would have paid the full listed fee) — but it sizes the opportunity behind the reminder and format fixes on the recommendations slide.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3880" y="822960"/>
            <a:ext cx="1106424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Highest-value visits are also highest-risk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978431096"/>
              </p:ext>
            </p:extLst>
          </p:nvPr>
        </p:nvGraphicFramePr>
        <p:xfrm>
          <a:off x="457200" y="1554480"/>
          <a:ext cx="60350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3803165349"/>
              </p:ext>
            </p:extLst>
          </p:nvPr>
        </p:nvGraphicFramePr>
        <p:xfrm>
          <a:off x="6720840" y="1554480"/>
          <a:ext cx="498348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903720" y="3886200"/>
            <a:ext cx="4663440" cy="18288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Delhi and Mumbai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~30% of total revenue.
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Insurance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 the leading payment mode (~19%); the other six modes each sit at ~12–13%.
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Insured patients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pay ~45% less out of pocket than uninsured patients.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046790"/>
            <a:ext cx="1154503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Home Visits earn the most per visit (₹1,960) but also carry the highest no-show rate (26.3%, slide 9) — the highest-value segment needs the most protection.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UTILISATION &amp; SERVICE QUALITY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Utilisation and wait time are flat — the real signal is elsewhere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5216" y="1601478"/>
            <a:ext cx="2697480" cy="1371600"/>
          </a:xfrm>
          <a:prstGeom prst="roundRect">
            <a:avLst>
              <a:gd name="adj" fmla="val 5333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5" name="Text 3"/>
          <p:cNvSpPr/>
          <p:nvPr/>
        </p:nvSpPr>
        <p:spPr>
          <a:xfrm>
            <a:off x="658368" y="1404612"/>
            <a:ext cx="2478024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76.6%</a:t>
            </a: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3128" y="2113407"/>
            <a:ext cx="2478024" cy="9078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avg. doctor utilisation, flat within 1.1pp across every specialty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1617554"/>
            <a:ext cx="2697480" cy="1371600"/>
          </a:xfrm>
          <a:prstGeom prst="roundRect">
            <a:avLst>
              <a:gd name="adj" fmla="val 5333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8" name="Text 6"/>
          <p:cNvSpPr/>
          <p:nvPr/>
        </p:nvSpPr>
        <p:spPr>
          <a:xfrm>
            <a:off x="3483864" y="1433322"/>
            <a:ext cx="2478024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 min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38728" y="2147328"/>
            <a:ext cx="2478024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avg. patient wait time — barely varies by specialty or time of day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2697480" cy="1371600"/>
          </a:xfrm>
          <a:prstGeom prst="roundRect">
            <a:avLst>
              <a:gd name="adj" fmla="val 5333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11" name="Text 9"/>
          <p:cNvSpPr/>
          <p:nvPr/>
        </p:nvSpPr>
        <p:spPr>
          <a:xfrm>
            <a:off x="6419088" y="1709928"/>
            <a:ext cx="2478024" cy="3931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64224" y="2087118"/>
            <a:ext cx="2478024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consultation duration and patient satisfaction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89720" y="1600200"/>
            <a:ext cx="2468880" cy="1371600"/>
          </a:xfrm>
          <a:prstGeom prst="roundRect">
            <a:avLst>
              <a:gd name="adj" fmla="val 5333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14" name="Text 12"/>
          <p:cNvSpPr/>
          <p:nvPr/>
        </p:nvSpPr>
        <p:spPr>
          <a:xfrm>
            <a:off x="9299448" y="1709928"/>
            <a:ext cx="2249424" cy="437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0.25–0.3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84208" y="2060460"/>
            <a:ext cx="2249424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moderate link between doctor experience and fee charged</a:t>
            </a:r>
            <a:endParaRPr lang="en-US" sz="16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3055688722"/>
              </p:ext>
            </p:extLst>
          </p:nvPr>
        </p:nvGraphicFramePr>
        <p:xfrm>
          <a:off x="548640" y="3151755"/>
          <a:ext cx="5760720" cy="3370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681019" y="3151755"/>
            <a:ext cx="1954161" cy="5166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629399" y="3808476"/>
            <a:ext cx="5105095" cy="293979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gaps should be investigated at the doctor/clinic level, not by specialty — specialty explains almost none of the variation.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Wait time looks uniform across the board; it is not, on this evidence, an operational lever worth targeting by specialty or slot.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Fee rises with experience up to ~25 years, then flattens — one input to pricing, not the dominant one.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4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prioritised plan to reduce no-shows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84048" cy="384048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642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reminder gap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92040" y="16642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~15% of no-reminder bookings on the full 3-channel bundle by default — the single largest controllable lever.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340864"/>
            <a:ext cx="384048" cy="384048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40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2860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remote &amp; home formats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92040" y="237627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confirm-or-cancel prompts and deposits for Video Consult and Home Visit; route no-shows to a same-day waitlist.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384048" cy="384048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045715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long-lead bookings twice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02661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bookings 14+ days out, add a mid-point confirmation and a 48-hour reminder.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584448"/>
            <a:ext cx="384048" cy="384048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84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5890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hottest slots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92040" y="3698725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Weekend/evening slots and Psychiatry, Dermatology, ENT reward selective overbooking most; mornings and Neurology/Paediatrics don’t need it.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384048" cy="384048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26110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first-visit patients specially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92040" y="429642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 or WhatsApp confirmation for first-timers, who drive the majority of all no-shows.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5129784"/>
            <a:ext cx="384048" cy="345186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230368"/>
            <a:ext cx="3840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077723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walk-in anomaly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76800" y="5087359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20.9% no-show rate among physically-present walk-ins is worth validating with operations.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0601" y="5751576"/>
            <a:ext cx="384048" cy="384048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799016"/>
            <a:ext cx="3840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578215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capacity to the seasonal curve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866279" y="578689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for the Q4–Q1 peak and June–August trough rather than a flat average</a:t>
            </a: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 |  Appointment &amp; No-Show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4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0073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74553" y="3703320"/>
            <a:ext cx="4206240" cy="4206240"/>
          </a:xfrm>
          <a:prstGeom prst="ellipse">
            <a:avLst/>
          </a:prstGeom>
          <a:solidFill>
            <a:srgbClr val="F7941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51460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1858945" y="3520440"/>
            <a:ext cx="8591341" cy="0"/>
          </a:xfrm>
          <a:prstGeom prst="line">
            <a:avLst/>
          </a:prstGeom>
          <a:noFill/>
          <a:ln w="31750">
            <a:solidFill>
              <a:srgbClr val="F794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70332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— Appointment &amp; No-Show Analytics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 Katiyar  |  Data Analyst (Portfolio Project)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1582</Words>
  <Application>Microsoft Office PowerPoint</Application>
  <PresentationFormat>Widescreen</PresentationFormat>
  <Paragraphs>216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Archi Katiyar</cp:lastModifiedBy>
  <cp:revision>5</cp:revision>
  <dcterms:created xsi:type="dcterms:W3CDTF">2026-09-30T07:25:57Z</dcterms:created>
  <dcterms:modified xsi:type="dcterms:W3CDTF">2026-10-01T09:08:29Z</dcterms:modified>
</cp:coreProperties>
</file>